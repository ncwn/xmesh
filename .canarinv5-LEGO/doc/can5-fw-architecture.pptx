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1554" y="5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B22F3-0CE3-4881-8C50-5FC1B89C2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C8FAB9-ED0E-44E0-9742-F65A146EE9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CC639-6404-4982-822B-D61C25C67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8375-5379-434D-A5C3-E916608E1871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6CCC3-FD15-4F6F-81FD-13460668E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718D6-A57D-4E42-830D-7746411D9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EB69-833F-42FF-A1D1-C2A30830B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283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70DA1-2DFA-4E01-B9C4-E35D883C3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8AB18-171B-4404-A1F0-77699969E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94665-39E3-49FE-BBE7-6EC7EF098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8375-5379-434D-A5C3-E916608E1871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DC2E8-030D-404A-9898-2675B7C17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5042A-C1E1-4977-9276-E049CC8C6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EB69-833F-42FF-A1D1-C2A30830B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381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6B71A-89B2-4079-8167-65B9F8FFB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278BE-46FC-4799-8DF2-64FF34672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5AE32-BC1A-4A87-A225-E8A3F7E09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8375-5379-434D-A5C3-E916608E1871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02ED7-33A4-47E5-8D0C-7DA8FE82A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D2BF7-8904-47E7-9204-E5E975164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EB69-833F-42FF-A1D1-C2A30830B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606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C44FF-62AC-4D2C-A0E6-0B621DCEB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6F2A3-C345-4547-911E-FA35D3939E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EC2D2-185F-4780-8B78-B2E4FD43B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38BCD-6215-4DDD-B0F6-A3FDE42A3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8375-5379-434D-A5C3-E916608E1871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5390B-EB80-446C-B30A-66EBF677C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5D87A-BE4F-45E3-9B56-129FBBDBD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EB69-833F-42FF-A1D1-C2A30830B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16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2C6EC-824D-45C6-9C48-DF734EE69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76A8D-AE51-412E-856D-E10EE02A0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79E1F0-91B6-47E9-9622-2980DD4F6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E33CB-0F6A-401F-A0CF-3EA56B38BF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F8CA73-A371-4265-917D-1006F2219F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6AE744-E029-4F78-80F2-B0AEF14C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8375-5379-434D-A5C3-E916608E1871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53091-EE19-4321-8F2E-CB5E4C85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9A4CA3-6C9A-40DC-B83B-C153DE707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EB69-833F-42FF-A1D1-C2A30830B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549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4B9E2-ED1B-4AEC-9500-1448D4194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BFCBB7-658B-451F-9A15-944CE761D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8375-5379-434D-A5C3-E916608E1871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0F3B83-EAF3-4D2F-8C68-6D9E8978C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F91810-64DA-458A-976C-CA41A307A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EB69-833F-42FF-A1D1-C2A30830B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04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642BB1-6050-4A92-84FC-C6FEAD977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8375-5379-434D-A5C3-E916608E1871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5F54D9-5434-42F3-8119-E4B33335F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9121D-88CE-452D-A536-B56C76AFD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EB69-833F-42FF-A1D1-C2A30830B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58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43247-F17B-4583-87D8-58A6D17ED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C3559-9B85-4A51-9024-AE7AF1500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21EC9D-C44A-4813-AE10-D27C98DCA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BC87C-4C50-4D1D-8C9F-3D5AA7BFE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8375-5379-434D-A5C3-E916608E1871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63F3C9-91E8-4E4E-85FF-AFD0C08F7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6F890-67B5-4339-B7A7-4D022990D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EB69-833F-42FF-A1D1-C2A30830B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53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84D6B-7590-410A-925A-2690821C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5C352D-57CC-4C03-BBDF-22D7335B6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532EA-A5F6-4E2A-9E4E-92E8DB7664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0CAF1-9EFB-4AF9-8F6C-BCA94B025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8375-5379-434D-A5C3-E916608E1871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FEF13-B1BF-4170-B025-9A8F85EBC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19D1B-2CD5-4BAF-9C0B-5B7BACE54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EB69-833F-42FF-A1D1-C2A30830B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979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6E41D-E108-4F77-A4E1-99244E003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62591-A7ED-435E-A1F4-F52041D842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AD9F8-93DF-4DFD-858D-57F09DC9F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8375-5379-434D-A5C3-E916608E1871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C1070-13B5-42B1-BC27-EE1818D8F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2196E-E590-4357-9CEF-AFCF4DE6F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EB69-833F-42FF-A1D1-C2A30830B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28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BEAE58-912B-4D0F-8513-81DADAEA2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CAD110-D10C-46EA-BFF6-62E6FB2B7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DAAFA-7667-4968-9B81-1E72984B7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D8375-5379-434D-A5C3-E916608E1871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C7A94-D0C7-4B07-AFE1-F69992465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8E588-A44C-4A00-804C-15BDE161B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EEB69-833F-42FF-A1D1-C2A30830B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750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5A497E-1B52-4E37-97B1-C834898E9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915F0-B032-49D9-8D44-DD3D4DB63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FB17E-A4BC-42F5-B2CA-CD7DF3C431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D8375-5379-434D-A5C3-E916608E1871}" type="datetimeFigureOut">
              <a:rPr lang="en-US" smtClean="0"/>
              <a:t>1/26/2021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917B3-0C4E-4314-8C5F-81C32E4C65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FF80C-F0DB-4F50-87FD-2517AD2159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EEB69-833F-42FF-A1D1-C2A30830B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7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astminuteengineers.com/esp32-sleep-modes-power-consumption/" TargetMode="External"/><Relationship Id="rId2" Type="http://schemas.openxmlformats.org/officeDocument/2006/relationships/hyperlink" Target="https://www.esp32.com/viewtopic.php?t=1247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D4D5E3-68F3-3F4E-8E30-DD736676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Firmware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45E4D8-7BF3-EE48-86BB-DF94AB1DA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70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5120281D-F0BF-4B41-AB00-DC669BDBA5BA}"/>
              </a:ext>
            </a:extLst>
          </p:cNvPr>
          <p:cNvSpPr/>
          <p:nvPr/>
        </p:nvSpPr>
        <p:spPr>
          <a:xfrm>
            <a:off x="8848658" y="4147673"/>
            <a:ext cx="1075871" cy="7311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batt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82CFC4-84AB-EE49-8A2B-1E4665956072}"/>
              </a:ext>
            </a:extLst>
          </p:cNvPr>
          <p:cNvSpPr/>
          <p:nvPr/>
        </p:nvSpPr>
        <p:spPr>
          <a:xfrm>
            <a:off x="7672437" y="4147673"/>
            <a:ext cx="1075871" cy="7311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6C90D83-3BD2-5345-94DE-396D37039825}"/>
              </a:ext>
            </a:extLst>
          </p:cNvPr>
          <p:cNvGrpSpPr/>
          <p:nvPr/>
        </p:nvGrpSpPr>
        <p:grpSpPr>
          <a:xfrm>
            <a:off x="4586335" y="2710575"/>
            <a:ext cx="2985753" cy="2174763"/>
            <a:chOff x="1386681" y="4242366"/>
            <a:chExt cx="2985753" cy="21747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F69F250-2272-BE48-8542-F1D90595A430}"/>
                </a:ext>
              </a:extLst>
            </p:cNvPr>
            <p:cNvSpPr/>
            <p:nvPr/>
          </p:nvSpPr>
          <p:spPr>
            <a:xfrm>
              <a:off x="1386682" y="5684159"/>
              <a:ext cx="2985752" cy="7311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sens</a:t>
              </a:r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0133C97-D14C-EC47-8667-D52C66509970}"/>
                </a:ext>
              </a:extLst>
            </p:cNvPr>
            <p:cNvSpPr/>
            <p:nvPr/>
          </p:nvSpPr>
          <p:spPr>
            <a:xfrm rot="16200000">
              <a:off x="954881" y="4674168"/>
              <a:ext cx="1271249" cy="40764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072A424-B375-F04D-8FE2-AECF79A09935}"/>
                </a:ext>
              </a:extLst>
            </p:cNvPr>
            <p:cNvSpPr/>
            <p:nvPr/>
          </p:nvSpPr>
          <p:spPr>
            <a:xfrm rot="16200000">
              <a:off x="1462882" y="4674168"/>
              <a:ext cx="1271249" cy="40764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04352E6-6741-EF40-9941-5B9436062C6E}"/>
                </a:ext>
              </a:extLst>
            </p:cNvPr>
            <p:cNvSpPr/>
            <p:nvPr/>
          </p:nvSpPr>
          <p:spPr>
            <a:xfrm rot="16200000">
              <a:off x="1970883" y="4674168"/>
              <a:ext cx="1271249" cy="40764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PMS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5CBFB80-73D4-E74F-BE84-D5EED8824E10}"/>
                </a:ext>
              </a:extLst>
            </p:cNvPr>
            <p:cNvSpPr/>
            <p:nvPr/>
          </p:nvSpPr>
          <p:spPr>
            <a:xfrm rot="16200000">
              <a:off x="2478884" y="4674168"/>
              <a:ext cx="1271249" cy="40764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T/H/P/</a:t>
              </a:r>
              <a:r>
                <a:rPr lang="en-US" dirty="0" err="1"/>
                <a:t>voc</a:t>
              </a:r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D3B44DE-0D59-5540-BB38-FD49FC121354}"/>
                </a:ext>
              </a:extLst>
            </p:cNvPr>
            <p:cNvSpPr/>
            <p:nvPr/>
          </p:nvSpPr>
          <p:spPr>
            <a:xfrm rot="16200000">
              <a:off x="3012285" y="4674168"/>
              <a:ext cx="1271249" cy="40764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NOx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BA97886-B48D-1140-95E6-CC5421AFBB1E}"/>
                </a:ext>
              </a:extLst>
            </p:cNvPr>
            <p:cNvSpPr/>
            <p:nvPr/>
          </p:nvSpPr>
          <p:spPr>
            <a:xfrm rot="16200000">
              <a:off x="3532986" y="4674168"/>
              <a:ext cx="1271249" cy="40764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WEATH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0C33339-570B-2B41-8DFA-F60B7D2A3682}"/>
                </a:ext>
              </a:extLst>
            </p:cNvPr>
            <p:cNvSpPr/>
            <p:nvPr/>
          </p:nvSpPr>
          <p:spPr>
            <a:xfrm rot="16200000">
              <a:off x="1514306" y="5233593"/>
              <a:ext cx="152400" cy="407646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CC0CCC1-BBDA-9342-AEDA-210D5AC7E6C5}"/>
                </a:ext>
              </a:extLst>
            </p:cNvPr>
            <p:cNvSpPr/>
            <p:nvPr/>
          </p:nvSpPr>
          <p:spPr>
            <a:xfrm rot="16200000">
              <a:off x="2022306" y="5233593"/>
              <a:ext cx="152400" cy="407646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85624E7-D5A1-4C49-B5AE-A4BE7F69E7D3}"/>
                </a:ext>
              </a:extLst>
            </p:cNvPr>
            <p:cNvSpPr/>
            <p:nvPr/>
          </p:nvSpPr>
          <p:spPr>
            <a:xfrm rot="16200000">
              <a:off x="2530306" y="5233593"/>
              <a:ext cx="152400" cy="407646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0053A28-12FC-BA4A-B064-FA6C0A10ACCA}"/>
                </a:ext>
              </a:extLst>
            </p:cNvPr>
            <p:cNvSpPr/>
            <p:nvPr/>
          </p:nvSpPr>
          <p:spPr>
            <a:xfrm rot="16200000">
              <a:off x="3038307" y="5233593"/>
              <a:ext cx="152400" cy="407646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3FD05DE-9359-3C47-A289-1EDA82FC1F0E}"/>
                </a:ext>
              </a:extLst>
            </p:cNvPr>
            <p:cNvSpPr/>
            <p:nvPr/>
          </p:nvSpPr>
          <p:spPr>
            <a:xfrm rot="16200000">
              <a:off x="3571707" y="5233592"/>
              <a:ext cx="152400" cy="407646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5AA275F-37EA-6141-8D90-2C54739A84AE}"/>
                </a:ext>
              </a:extLst>
            </p:cNvPr>
            <p:cNvSpPr/>
            <p:nvPr/>
          </p:nvSpPr>
          <p:spPr>
            <a:xfrm rot="16200000">
              <a:off x="4092407" y="5233591"/>
              <a:ext cx="152400" cy="407646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D2E2DFC-14BF-2849-8DD6-18821766723B}"/>
                </a:ext>
              </a:extLst>
            </p:cNvPr>
            <p:cNvSpPr/>
            <p:nvPr/>
          </p:nvSpPr>
          <p:spPr>
            <a:xfrm rot="16200000">
              <a:off x="2803356" y="4267482"/>
              <a:ext cx="152399" cy="2985747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4CC9A66-6D93-D749-A2F2-5528AE0A865E}"/>
                </a:ext>
              </a:extLst>
            </p:cNvPr>
            <p:cNvSpPr/>
            <p:nvPr/>
          </p:nvSpPr>
          <p:spPr>
            <a:xfrm rot="16200000">
              <a:off x="2803355" y="4848055"/>
              <a:ext cx="152400" cy="2985747"/>
            </a:xfrm>
            <a:prstGeom prst="rect">
              <a:avLst/>
            </a:prstGeom>
            <a:solidFill>
              <a:srgbClr val="00FF88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79B3E92-A769-DF49-8042-8CD9036EDB7D}"/>
              </a:ext>
            </a:extLst>
          </p:cNvPr>
          <p:cNvGrpSpPr/>
          <p:nvPr/>
        </p:nvGrpSpPr>
        <p:grpSpPr>
          <a:xfrm>
            <a:off x="3062331" y="2707697"/>
            <a:ext cx="1423650" cy="2172951"/>
            <a:chOff x="2417764" y="653708"/>
            <a:chExt cx="1423650" cy="21729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D4488A0-E0F8-2D40-9DEB-F535577FD22D}"/>
                </a:ext>
              </a:extLst>
            </p:cNvPr>
            <p:cNvSpPr/>
            <p:nvPr/>
          </p:nvSpPr>
          <p:spPr>
            <a:xfrm>
              <a:off x="2417764" y="2095502"/>
              <a:ext cx="1423650" cy="7311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net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B324717-33D6-3348-BDED-DF92B361FFC5}"/>
                </a:ext>
              </a:extLst>
            </p:cNvPr>
            <p:cNvSpPr/>
            <p:nvPr/>
          </p:nvSpPr>
          <p:spPr>
            <a:xfrm rot="16200000">
              <a:off x="1985963" y="1085510"/>
              <a:ext cx="1271249" cy="40764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Lorawan</a:t>
              </a:r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B96F177-193C-2840-9EA4-9F11DF6BCBBB}"/>
                </a:ext>
              </a:extLst>
            </p:cNvPr>
            <p:cNvSpPr/>
            <p:nvPr/>
          </p:nvSpPr>
          <p:spPr>
            <a:xfrm rot="16200000">
              <a:off x="2493964" y="1085510"/>
              <a:ext cx="1271249" cy="40764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3G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B3F4032-5BAC-CC40-88DD-0E4254A43BEA}"/>
                </a:ext>
              </a:extLst>
            </p:cNvPr>
            <p:cNvSpPr/>
            <p:nvPr/>
          </p:nvSpPr>
          <p:spPr>
            <a:xfrm rot="16200000">
              <a:off x="3001965" y="1085510"/>
              <a:ext cx="1271249" cy="40764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wifi</a:t>
              </a:r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77F7433-721D-6A43-9D3C-8B236A82DF96}"/>
                </a:ext>
              </a:extLst>
            </p:cNvPr>
            <p:cNvSpPr/>
            <p:nvPr/>
          </p:nvSpPr>
          <p:spPr>
            <a:xfrm rot="16200000">
              <a:off x="2545389" y="1645841"/>
              <a:ext cx="152400" cy="407648"/>
            </a:xfrm>
            <a:prstGeom prst="rect">
              <a:avLst/>
            </a:prstGeom>
            <a:solidFill>
              <a:srgbClr val="0062FF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D1279DA-2E61-7D43-AF50-8768B9B7C245}"/>
                </a:ext>
              </a:extLst>
            </p:cNvPr>
            <p:cNvSpPr/>
            <p:nvPr/>
          </p:nvSpPr>
          <p:spPr>
            <a:xfrm rot="16200000">
              <a:off x="3053388" y="1644934"/>
              <a:ext cx="152400" cy="407648"/>
            </a:xfrm>
            <a:prstGeom prst="rect">
              <a:avLst/>
            </a:prstGeom>
            <a:solidFill>
              <a:srgbClr val="0062FF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AF1013D-B571-9D43-B3E1-D45DA813FCCB}"/>
                </a:ext>
              </a:extLst>
            </p:cNvPr>
            <p:cNvSpPr/>
            <p:nvPr/>
          </p:nvSpPr>
          <p:spPr>
            <a:xfrm rot="16200000">
              <a:off x="3053389" y="2038634"/>
              <a:ext cx="152400" cy="1423650"/>
            </a:xfrm>
            <a:prstGeom prst="rect">
              <a:avLst/>
            </a:prstGeom>
            <a:solidFill>
              <a:srgbClr val="00FF88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A9C8336-8A42-B141-98EF-18CC077CEA37}"/>
                </a:ext>
              </a:extLst>
            </p:cNvPr>
            <p:cNvSpPr/>
            <p:nvPr/>
          </p:nvSpPr>
          <p:spPr>
            <a:xfrm rot="16200000">
              <a:off x="3561389" y="1644933"/>
              <a:ext cx="152400" cy="407648"/>
            </a:xfrm>
            <a:prstGeom prst="rect">
              <a:avLst/>
            </a:prstGeom>
            <a:solidFill>
              <a:srgbClr val="0062FF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AA42B94-7B03-5E4D-B35E-2E8E55431486}"/>
                </a:ext>
              </a:extLst>
            </p:cNvPr>
            <p:cNvSpPr/>
            <p:nvPr/>
          </p:nvSpPr>
          <p:spPr>
            <a:xfrm rot="16200000">
              <a:off x="3053389" y="1458060"/>
              <a:ext cx="152400" cy="1423649"/>
            </a:xfrm>
            <a:prstGeom prst="rect">
              <a:avLst/>
            </a:prstGeom>
            <a:solidFill>
              <a:srgbClr val="0062FF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6919EE99-26E4-1F4E-8D61-C87BAB5CB2FB}"/>
              </a:ext>
            </a:extLst>
          </p:cNvPr>
          <p:cNvSpPr/>
          <p:nvPr/>
        </p:nvSpPr>
        <p:spPr>
          <a:xfrm rot="16200000">
            <a:off x="8134173" y="4266511"/>
            <a:ext cx="152400" cy="1075871"/>
          </a:xfrm>
          <a:prstGeom prst="rect">
            <a:avLst/>
          </a:prstGeom>
          <a:solidFill>
            <a:srgbClr val="00FF8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EEF9BCD-F8EB-3249-8403-BD8167CDE13D}"/>
              </a:ext>
            </a:extLst>
          </p:cNvPr>
          <p:cNvSpPr/>
          <p:nvPr/>
        </p:nvSpPr>
        <p:spPr>
          <a:xfrm rot="16200000">
            <a:off x="9310393" y="4266510"/>
            <a:ext cx="152400" cy="1075871"/>
          </a:xfrm>
          <a:prstGeom prst="rect">
            <a:avLst/>
          </a:prstGeom>
          <a:solidFill>
            <a:srgbClr val="00FF8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881BB22-FA3F-EF40-B3BE-577EBAFBDE0A}"/>
              </a:ext>
            </a:extLst>
          </p:cNvPr>
          <p:cNvSpPr/>
          <p:nvPr/>
        </p:nvSpPr>
        <p:spPr>
          <a:xfrm rot="16200000">
            <a:off x="573018" y="895873"/>
            <a:ext cx="152400" cy="407646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0B2F225-AFFF-E94D-AA9D-BC0E81427CAF}"/>
              </a:ext>
            </a:extLst>
          </p:cNvPr>
          <p:cNvSpPr/>
          <p:nvPr/>
        </p:nvSpPr>
        <p:spPr>
          <a:xfrm rot="16200000">
            <a:off x="573018" y="1237792"/>
            <a:ext cx="152400" cy="407646"/>
          </a:xfrm>
          <a:prstGeom prst="rect">
            <a:avLst/>
          </a:prstGeom>
          <a:solidFill>
            <a:srgbClr val="0062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C51A300-BF40-AF41-83E6-D92499DCF675}"/>
              </a:ext>
            </a:extLst>
          </p:cNvPr>
          <p:cNvSpPr/>
          <p:nvPr/>
        </p:nvSpPr>
        <p:spPr>
          <a:xfrm rot="16200000">
            <a:off x="573018" y="1598400"/>
            <a:ext cx="152400" cy="407646"/>
          </a:xfrm>
          <a:prstGeom prst="rect">
            <a:avLst/>
          </a:prstGeom>
          <a:solidFill>
            <a:srgbClr val="00FF8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E1991F2-D0EB-DF4A-9B40-050738804295}"/>
              </a:ext>
            </a:extLst>
          </p:cNvPr>
          <p:cNvSpPr/>
          <p:nvPr/>
        </p:nvSpPr>
        <p:spPr>
          <a:xfrm>
            <a:off x="962061" y="915029"/>
            <a:ext cx="1251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sensor_ops</a:t>
            </a:r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3F4E01E-82C8-CB48-BA6C-DE3B52BFBF3B}"/>
              </a:ext>
            </a:extLst>
          </p:cNvPr>
          <p:cNvSpPr/>
          <p:nvPr/>
        </p:nvSpPr>
        <p:spPr>
          <a:xfrm>
            <a:off x="968082" y="1256949"/>
            <a:ext cx="7557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if_ops</a:t>
            </a:r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F2AB51B-5D2D-8A43-85F8-A0B610801003}"/>
              </a:ext>
            </a:extLst>
          </p:cNvPr>
          <p:cNvSpPr/>
          <p:nvPr/>
        </p:nvSpPr>
        <p:spPr>
          <a:xfrm>
            <a:off x="962061" y="1609840"/>
            <a:ext cx="1173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can5_mod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083123C-7F3B-F54D-AA9E-794625F11A69}"/>
              </a:ext>
            </a:extLst>
          </p:cNvPr>
          <p:cNvSpPr/>
          <p:nvPr/>
        </p:nvSpPr>
        <p:spPr>
          <a:xfrm rot="16200000">
            <a:off x="8976275" y="4020050"/>
            <a:ext cx="152400" cy="407646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686588A-31D7-A24A-8282-223EBDA14A70}"/>
              </a:ext>
            </a:extLst>
          </p:cNvPr>
          <p:cNvSpPr/>
          <p:nvPr/>
        </p:nvSpPr>
        <p:spPr>
          <a:xfrm>
            <a:off x="1525906" y="5034268"/>
            <a:ext cx="9574842" cy="7311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master (main)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084CA1D-6DE3-164C-82C9-B6F7CE85AE49}"/>
              </a:ext>
            </a:extLst>
          </p:cNvPr>
          <p:cNvSpPr/>
          <p:nvPr/>
        </p:nvSpPr>
        <p:spPr>
          <a:xfrm rot="16200000">
            <a:off x="6237131" y="322886"/>
            <a:ext cx="152399" cy="9574837"/>
          </a:xfrm>
          <a:prstGeom prst="rect">
            <a:avLst/>
          </a:prstGeom>
          <a:solidFill>
            <a:srgbClr val="00FF8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C8E7193-7BEA-9F40-8B89-7492489E18CC}"/>
              </a:ext>
            </a:extLst>
          </p:cNvPr>
          <p:cNvSpPr/>
          <p:nvPr/>
        </p:nvSpPr>
        <p:spPr>
          <a:xfrm>
            <a:off x="1525906" y="2707697"/>
            <a:ext cx="1423650" cy="21776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config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0D5D9953-1AE5-9E4C-8AE0-C0CA7DDEA92E}"/>
              </a:ext>
            </a:extLst>
          </p:cNvPr>
          <p:cNvSpPr/>
          <p:nvPr/>
        </p:nvSpPr>
        <p:spPr>
          <a:xfrm rot="16200000">
            <a:off x="2161526" y="4111261"/>
            <a:ext cx="152400" cy="1423650"/>
          </a:xfrm>
          <a:prstGeom prst="rect">
            <a:avLst/>
          </a:prstGeom>
          <a:solidFill>
            <a:srgbClr val="00FF8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C021772-04AB-4725-BFB5-6DF51EB5D490}"/>
              </a:ext>
            </a:extLst>
          </p:cNvPr>
          <p:cNvSpPr/>
          <p:nvPr/>
        </p:nvSpPr>
        <p:spPr>
          <a:xfrm rot="16200000">
            <a:off x="573018" y="523322"/>
            <a:ext cx="152400" cy="40764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ECA1800-0279-4471-86F6-CF35831E419C}"/>
              </a:ext>
            </a:extLst>
          </p:cNvPr>
          <p:cNvSpPr/>
          <p:nvPr/>
        </p:nvSpPr>
        <p:spPr>
          <a:xfrm>
            <a:off x="962061" y="542478"/>
            <a:ext cx="1202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config_ops</a:t>
            </a:r>
            <a:endParaRPr lang="en-US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CD18D5F-72C5-41DA-8FA9-73C04034DD78}"/>
              </a:ext>
            </a:extLst>
          </p:cNvPr>
          <p:cNvSpPr/>
          <p:nvPr/>
        </p:nvSpPr>
        <p:spPr>
          <a:xfrm>
            <a:off x="3062327" y="3416271"/>
            <a:ext cx="107312" cy="40764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4DBDDD3-993B-4E54-8EF4-8EEAA0E461C3}"/>
              </a:ext>
            </a:extLst>
          </p:cNvPr>
          <p:cNvSpPr/>
          <p:nvPr/>
        </p:nvSpPr>
        <p:spPr>
          <a:xfrm>
            <a:off x="3566849" y="3416271"/>
            <a:ext cx="107312" cy="40764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577D9FE-C951-4BE7-8B83-281DE5259A4C}"/>
              </a:ext>
            </a:extLst>
          </p:cNvPr>
          <p:cNvSpPr/>
          <p:nvPr/>
        </p:nvSpPr>
        <p:spPr>
          <a:xfrm>
            <a:off x="4078328" y="3416271"/>
            <a:ext cx="107312" cy="40764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DAE55F-736A-46CE-AE17-154EF81822B1}"/>
              </a:ext>
            </a:extLst>
          </p:cNvPr>
          <p:cNvSpPr/>
          <p:nvPr/>
        </p:nvSpPr>
        <p:spPr>
          <a:xfrm>
            <a:off x="4582851" y="3416271"/>
            <a:ext cx="107312" cy="40764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775294C-7659-43EB-AF0E-1E31D728635A}"/>
              </a:ext>
            </a:extLst>
          </p:cNvPr>
          <p:cNvSpPr/>
          <p:nvPr/>
        </p:nvSpPr>
        <p:spPr>
          <a:xfrm>
            <a:off x="5094333" y="3416271"/>
            <a:ext cx="107312" cy="40764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2979778-E288-497C-B2E2-0F3F4AC8D929}"/>
              </a:ext>
            </a:extLst>
          </p:cNvPr>
          <p:cNvSpPr/>
          <p:nvPr/>
        </p:nvSpPr>
        <p:spPr>
          <a:xfrm>
            <a:off x="5602333" y="3416271"/>
            <a:ext cx="107312" cy="40764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D8E6B28-607A-4A29-A1BB-CA3374E6256F}"/>
              </a:ext>
            </a:extLst>
          </p:cNvPr>
          <p:cNvSpPr/>
          <p:nvPr/>
        </p:nvSpPr>
        <p:spPr>
          <a:xfrm>
            <a:off x="6110334" y="3416271"/>
            <a:ext cx="107312" cy="40764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0787B54-DA39-4B55-8953-9710347B9E81}"/>
              </a:ext>
            </a:extLst>
          </p:cNvPr>
          <p:cNvSpPr/>
          <p:nvPr/>
        </p:nvSpPr>
        <p:spPr>
          <a:xfrm>
            <a:off x="6643734" y="3416271"/>
            <a:ext cx="107312" cy="40764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ADC6CD3-5514-44FE-B169-BAF5E274148D}"/>
              </a:ext>
            </a:extLst>
          </p:cNvPr>
          <p:cNvSpPr/>
          <p:nvPr/>
        </p:nvSpPr>
        <p:spPr>
          <a:xfrm>
            <a:off x="7164434" y="3416271"/>
            <a:ext cx="107312" cy="40764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ABDC750-8122-40A1-972E-67B1ADFD2535}"/>
              </a:ext>
            </a:extLst>
          </p:cNvPr>
          <p:cNvSpPr/>
          <p:nvPr/>
        </p:nvSpPr>
        <p:spPr>
          <a:xfrm>
            <a:off x="8848652" y="4320517"/>
            <a:ext cx="107312" cy="40764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5D3E726-E43A-44C1-A891-99A29BF464DF}"/>
              </a:ext>
            </a:extLst>
          </p:cNvPr>
          <p:cNvSpPr/>
          <p:nvPr/>
        </p:nvSpPr>
        <p:spPr>
          <a:xfrm>
            <a:off x="7672426" y="4320517"/>
            <a:ext cx="107312" cy="40764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16330DD-5BBC-4A84-A689-BB4C490D4210}"/>
              </a:ext>
            </a:extLst>
          </p:cNvPr>
          <p:cNvSpPr/>
          <p:nvPr/>
        </p:nvSpPr>
        <p:spPr>
          <a:xfrm>
            <a:off x="4582851" y="4320517"/>
            <a:ext cx="107312" cy="40764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8833EE3-FA5F-4807-83ED-53F7FC0AC14A}"/>
              </a:ext>
            </a:extLst>
          </p:cNvPr>
          <p:cNvSpPr/>
          <p:nvPr/>
        </p:nvSpPr>
        <p:spPr>
          <a:xfrm>
            <a:off x="3062326" y="4320517"/>
            <a:ext cx="107312" cy="40764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729DC47-B03E-4F7D-BB08-C79237C50B50}"/>
              </a:ext>
            </a:extLst>
          </p:cNvPr>
          <p:cNvSpPr/>
          <p:nvPr/>
        </p:nvSpPr>
        <p:spPr>
          <a:xfrm>
            <a:off x="10024877" y="2707697"/>
            <a:ext cx="1075871" cy="21711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sleep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F6326AB0-D3FF-41E3-8D62-490D65CD2117}"/>
              </a:ext>
            </a:extLst>
          </p:cNvPr>
          <p:cNvSpPr/>
          <p:nvPr/>
        </p:nvSpPr>
        <p:spPr>
          <a:xfrm rot="16200000">
            <a:off x="573018" y="181402"/>
            <a:ext cx="152400" cy="40764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EC2A2A4-384F-4FD2-97C1-FAE554A98E06}"/>
              </a:ext>
            </a:extLst>
          </p:cNvPr>
          <p:cNvSpPr/>
          <p:nvPr/>
        </p:nvSpPr>
        <p:spPr>
          <a:xfrm>
            <a:off x="962061" y="200558"/>
            <a:ext cx="1127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sleep_ops</a:t>
            </a:r>
            <a:endParaRPr lang="en-US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B1A6CE4-1FE1-4ECD-9EF7-B021598A880B}"/>
              </a:ext>
            </a:extLst>
          </p:cNvPr>
          <p:cNvSpPr/>
          <p:nvPr/>
        </p:nvSpPr>
        <p:spPr>
          <a:xfrm rot="16200000">
            <a:off x="10486613" y="4266510"/>
            <a:ext cx="152400" cy="1075871"/>
          </a:xfrm>
          <a:prstGeom prst="rect">
            <a:avLst/>
          </a:prstGeom>
          <a:solidFill>
            <a:srgbClr val="00FF8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08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9476714-E6E9-4657-AA77-E5D7AFFEACE1}"/>
              </a:ext>
            </a:extLst>
          </p:cNvPr>
          <p:cNvSpPr/>
          <p:nvPr/>
        </p:nvSpPr>
        <p:spPr>
          <a:xfrm rot="16200000">
            <a:off x="750818" y="2885446"/>
            <a:ext cx="152400" cy="407646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E5EAB2-7C62-4EC9-82EA-75C8D79B8FF7}"/>
              </a:ext>
            </a:extLst>
          </p:cNvPr>
          <p:cNvSpPr/>
          <p:nvPr/>
        </p:nvSpPr>
        <p:spPr>
          <a:xfrm rot="16200000">
            <a:off x="762000" y="2346099"/>
            <a:ext cx="152400" cy="407646"/>
          </a:xfrm>
          <a:prstGeom prst="rect">
            <a:avLst/>
          </a:prstGeom>
          <a:solidFill>
            <a:srgbClr val="0062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B41D4E-24DB-4B89-892E-E14883FDFD0F}"/>
              </a:ext>
            </a:extLst>
          </p:cNvPr>
          <p:cNvSpPr/>
          <p:nvPr/>
        </p:nvSpPr>
        <p:spPr>
          <a:xfrm rot="16200000">
            <a:off x="762000" y="1802182"/>
            <a:ext cx="152400" cy="407646"/>
          </a:xfrm>
          <a:prstGeom prst="rect">
            <a:avLst/>
          </a:prstGeom>
          <a:solidFill>
            <a:srgbClr val="00FF88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0417E0-60B3-40F8-B1E6-E9C8EE8ECCDD}"/>
              </a:ext>
            </a:extLst>
          </p:cNvPr>
          <p:cNvSpPr/>
          <p:nvPr/>
        </p:nvSpPr>
        <p:spPr>
          <a:xfrm>
            <a:off x="13573161" y="2765005"/>
            <a:ext cx="1251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sensor_ops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85EA11-C1C9-4E00-86F0-54BC11C00FC8}"/>
              </a:ext>
            </a:extLst>
          </p:cNvPr>
          <p:cNvSpPr/>
          <p:nvPr/>
        </p:nvSpPr>
        <p:spPr>
          <a:xfrm>
            <a:off x="13579182" y="3106925"/>
            <a:ext cx="7557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if_ops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809AF95-F8AF-445E-9727-2B3D22ABA318}"/>
              </a:ext>
            </a:extLst>
          </p:cNvPr>
          <p:cNvSpPr/>
          <p:nvPr/>
        </p:nvSpPr>
        <p:spPr>
          <a:xfrm>
            <a:off x="13579182" y="3474915"/>
            <a:ext cx="1173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can5_mod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338500-412B-4531-95D1-C23C471402B5}"/>
              </a:ext>
            </a:extLst>
          </p:cNvPr>
          <p:cNvSpPr/>
          <p:nvPr/>
        </p:nvSpPr>
        <p:spPr>
          <a:xfrm rot="16200000">
            <a:off x="762000" y="3379558"/>
            <a:ext cx="152400" cy="40764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73E137-30F3-4ABF-99D7-A5E5A0244BD7}"/>
              </a:ext>
            </a:extLst>
          </p:cNvPr>
          <p:cNvSpPr/>
          <p:nvPr/>
        </p:nvSpPr>
        <p:spPr>
          <a:xfrm>
            <a:off x="13573161" y="2392454"/>
            <a:ext cx="1202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config_ops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852A023-86CA-44A6-B486-1C4C7D6472CC}"/>
              </a:ext>
            </a:extLst>
          </p:cNvPr>
          <p:cNvSpPr/>
          <p:nvPr/>
        </p:nvSpPr>
        <p:spPr>
          <a:xfrm rot="16200000">
            <a:off x="762000" y="4260618"/>
            <a:ext cx="152400" cy="40764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BA76D78-D0CE-47AD-99F2-69C84EDADFC3}"/>
              </a:ext>
            </a:extLst>
          </p:cNvPr>
          <p:cNvSpPr/>
          <p:nvPr/>
        </p:nvSpPr>
        <p:spPr>
          <a:xfrm>
            <a:off x="13573161" y="2050534"/>
            <a:ext cx="1127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sleep_ops</a:t>
            </a:r>
            <a:endParaRPr lang="en-US" dirty="0"/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80B5AACD-C101-46CD-AAB1-5C7F98E47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INterfaces</a:t>
            </a:r>
            <a:endParaRPr lang="en-US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A65630D0-5785-4B8C-8041-E1354715D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Can5mod:  used as “threads”, round robin scheduling, runs process()</a:t>
            </a:r>
          </a:p>
          <a:p>
            <a:r>
              <a:rPr lang="en-US" dirty="0"/>
              <a:t>Network:    TX/RX operations</a:t>
            </a:r>
          </a:p>
          <a:p>
            <a:r>
              <a:rPr lang="en-US" dirty="0"/>
              <a:t>Sensor:       Configure, Preheat and Acquire sensors</a:t>
            </a:r>
          </a:p>
          <a:p>
            <a:r>
              <a:rPr lang="en-US" dirty="0"/>
              <a:t>Config:        Used in Config mode, collect properties construct 				property tree and show webpage. Save webpage config</a:t>
            </a:r>
          </a:p>
          <a:p>
            <a:r>
              <a:rPr lang="en-US" dirty="0"/>
              <a:t>Sleep:          Poll modules for max time sleep, triggers sleep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971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E837D-FC33-4DA8-BE3D-3671D08E9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Todo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A3421-9941-4BD1-86DB-65490A9E4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Change the module to be used with </a:t>
            </a:r>
            <a:r>
              <a:rPr lang="en-US" dirty="0" err="1"/>
              <a:t>freeRTOS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Process is substituted by </a:t>
            </a:r>
            <a:r>
              <a:rPr lang="en-US" dirty="0" err="1"/>
              <a:t>event_handler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Add a scheduler that allows modules to set callbacks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scheduler is responsible for keeping the device in </a:t>
            </a:r>
            <a:r>
              <a:rPr lang="en-US" b="1" dirty="0"/>
              <a:t>deep sleep </a:t>
            </a:r>
            <a:r>
              <a:rPr lang="en-US" dirty="0"/>
              <a:t>and setting timeouts for the next callback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scheduler enables external wakeup sources like GPIO interrupts (e.g. network event)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RTC Data Area can be used to store variables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ULP can be used to read sensors or GPIO interrupts -&gt; wake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Lora library for </a:t>
            </a:r>
            <a:r>
              <a:rPr lang="en-US" dirty="0" err="1"/>
              <a:t>murata</a:t>
            </a:r>
            <a:r>
              <a:rPr lang="en-US" dirty="0"/>
              <a:t> lib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HW abstraction to use with multiplexed ports </a:t>
            </a:r>
          </a:p>
        </p:txBody>
      </p:sp>
    </p:spTree>
    <p:extLst>
      <p:ext uri="{BB962C8B-B14F-4D97-AF65-F5344CB8AC3E}">
        <p14:creationId xmlns:p14="http://schemas.microsoft.com/office/powerpoint/2010/main" val="2786455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E8A01-2AFB-4121-B2F0-395983524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FreeRTOS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F7269-26AF-4069-8795-DDD97D250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Only 1 core We must be Low Power</a:t>
            </a:r>
          </a:p>
          <a:p>
            <a:r>
              <a:rPr lang="en-US" dirty="0"/>
              <a:t>Threads? Probably not necessary if we use a scheduler with callbacks and RTC to wakeup. </a:t>
            </a:r>
          </a:p>
          <a:p>
            <a:pPr lvl="1"/>
            <a:r>
              <a:rPr lang="en-US" dirty="0"/>
              <a:t>Thread sleep? </a:t>
            </a:r>
            <a:r>
              <a:rPr lang="en-US" b="0" i="0" dirty="0" err="1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vApplicationIdleHook</a:t>
            </a:r>
            <a:r>
              <a:rPr lang="en-US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()? </a:t>
            </a:r>
            <a:r>
              <a:rPr lang="en-US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  <a:hlinkClick r:id="rId2"/>
              </a:rPr>
              <a:t>https://www.esp32.com/viewtopic.php?t=12477</a:t>
            </a:r>
            <a:br>
              <a:rPr lang="en-US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</a:br>
            <a:endParaRPr lang="en-US" b="0" i="0" dirty="0">
              <a:solidFill>
                <a:srgbClr val="444444"/>
              </a:solidFill>
              <a:effectLst/>
              <a:latin typeface="Open Sans" panose="020B0606030504020204" pitchFamily="34" charset="0"/>
            </a:endParaRPr>
          </a:p>
          <a:p>
            <a:pPr lvl="1"/>
            <a:r>
              <a:rPr lang="en-US" i="0" dirty="0">
                <a:solidFill>
                  <a:srgbClr val="444444"/>
                </a:solidFill>
                <a:effectLst/>
                <a:latin typeface="Open Sans" panose="020B0606030504020204" pitchFamily="34" charset="0"/>
                <a:hlinkClick r:id="rId3"/>
              </a:rPr>
              <a:t>https://lastminuteengineers.com/esp32-sleep-modes-power-consumption/</a:t>
            </a:r>
            <a:endParaRPr lang="en-US" dirty="0">
              <a:solidFill>
                <a:srgbClr val="444444"/>
              </a:solidFill>
              <a:latin typeface="Open Sans" panose="020B0606030504020204" pitchFamily="34" charset="0"/>
            </a:endParaRPr>
          </a:p>
          <a:p>
            <a:r>
              <a:rPr lang="en-US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Light sleep 800mA</a:t>
            </a:r>
          </a:p>
          <a:p>
            <a:r>
              <a:rPr lang="en-US" dirty="0">
                <a:solidFill>
                  <a:srgbClr val="444444"/>
                </a:solidFill>
                <a:latin typeface="Open Sans" panose="020B0606030504020204" pitchFamily="34" charset="0"/>
              </a:rPr>
              <a:t>Deep sleep 10uA</a:t>
            </a:r>
          </a:p>
          <a:p>
            <a:pPr marL="0" indent="0">
              <a:buNone/>
            </a:pPr>
            <a:endParaRPr lang="en-US" i="0" dirty="0">
              <a:solidFill>
                <a:srgbClr val="444444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997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2058</TotalTime>
  <Words>276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Open Sans</vt:lpstr>
      <vt:lpstr>Office Theme</vt:lpstr>
      <vt:lpstr>Firmware</vt:lpstr>
      <vt:lpstr>PowerPoint Presentation</vt:lpstr>
      <vt:lpstr>INterfaces</vt:lpstr>
      <vt:lpstr>Todo</vt:lpstr>
      <vt:lpstr>FreeRTOS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Firmware</dc:title>
  <dc:creator>Luca De Mori</dc:creator>
  <cp:lastModifiedBy>Luca De Mori</cp:lastModifiedBy>
  <cp:revision>14</cp:revision>
  <dcterms:created xsi:type="dcterms:W3CDTF">2021-01-26T22:43:38Z</dcterms:created>
  <dcterms:modified xsi:type="dcterms:W3CDTF">2021-01-28T09:02:17Z</dcterms:modified>
</cp:coreProperties>
</file>